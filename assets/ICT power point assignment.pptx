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8288000" cy="10287000"/>
  <p:notesSz cx="6858000" cy="9144000"/>
  <p:embeddedFontLst>
    <p:embeddedFont>
      <p:font typeface="Inter" panose="020B0502030000000004" pitchFamily="34" charset="0"/>
      <p:regular r:id="rId11"/>
    </p:embeddedFont>
    <p:embeddedFont>
      <p:font typeface="Inter Bold" panose="020B0802030000000004" pitchFamily="34" charset="0"/>
      <p:regular r:id="rId12"/>
    </p:embeddedFont>
    <p:embeddedFont>
      <p:font typeface="Inter Italics" panose="020B0502030000000004" pitchFamily="34" charset="0"/>
      <p:regular r:id="rId13"/>
    </p:embeddedFont>
    <p:embeddedFont>
      <p:font typeface="Inter Medium" panose="02000503000000020004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453"/>
    <a:srgbClr val="BFE4FF"/>
    <a:srgbClr val="2062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6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font" Target="fonts/font5.fntdata" /><Relationship Id="rId10" Type="http://schemas.openxmlformats.org/officeDocument/2006/relationships/notesMaster" Target="notesMasters/notesMaster1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A4FBF-5512-E248-B428-6F09B1FF5760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1838A-2C23-B046-AE69-C83FFE662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7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how I used AI to help build this presentation, and how I checked and personalised the content myself. It also lists the real sources I used for my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37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2.png" /><Relationship Id="rId7" Type="http://schemas.openxmlformats.org/officeDocument/2006/relationships/image" Target="../media/image1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Relationship Id="rId9" Type="http://schemas.openxmlformats.org/officeDocument/2006/relationships/image" Target="../media/image18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 /><Relationship Id="rId13" Type="http://schemas.openxmlformats.org/officeDocument/2006/relationships/image" Target="../media/image30.png" /><Relationship Id="rId18" Type="http://schemas.openxmlformats.org/officeDocument/2006/relationships/image" Target="../media/image35.png" /><Relationship Id="rId3" Type="http://schemas.openxmlformats.org/officeDocument/2006/relationships/image" Target="../media/image20.png" /><Relationship Id="rId7" Type="http://schemas.openxmlformats.org/officeDocument/2006/relationships/image" Target="../media/image24.png" /><Relationship Id="rId12" Type="http://schemas.openxmlformats.org/officeDocument/2006/relationships/image" Target="../media/image29.png" /><Relationship Id="rId17" Type="http://schemas.openxmlformats.org/officeDocument/2006/relationships/image" Target="../media/image34.png" /><Relationship Id="rId2" Type="http://schemas.openxmlformats.org/officeDocument/2006/relationships/image" Target="../media/image19.png" /><Relationship Id="rId16" Type="http://schemas.openxmlformats.org/officeDocument/2006/relationships/image" Target="../media/image33.png" /><Relationship Id="rId20" Type="http://schemas.openxmlformats.org/officeDocument/2006/relationships/image" Target="../media/image3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3.png" /><Relationship Id="rId11" Type="http://schemas.openxmlformats.org/officeDocument/2006/relationships/image" Target="../media/image28.png" /><Relationship Id="rId5" Type="http://schemas.openxmlformats.org/officeDocument/2006/relationships/image" Target="../media/image22.png" /><Relationship Id="rId15" Type="http://schemas.openxmlformats.org/officeDocument/2006/relationships/image" Target="../media/image32.png" /><Relationship Id="rId10" Type="http://schemas.openxmlformats.org/officeDocument/2006/relationships/image" Target="../media/image27.png" /><Relationship Id="rId19" Type="http://schemas.openxmlformats.org/officeDocument/2006/relationships/image" Target="../media/image36.png" /><Relationship Id="rId4" Type="http://schemas.openxmlformats.org/officeDocument/2006/relationships/image" Target="../media/image21.png" /><Relationship Id="rId9" Type="http://schemas.openxmlformats.org/officeDocument/2006/relationships/image" Target="../media/image26.png" /><Relationship Id="rId14" Type="http://schemas.openxmlformats.org/officeDocument/2006/relationships/image" Target="../media/image31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2.png" /><Relationship Id="rId5" Type="http://schemas.openxmlformats.org/officeDocument/2006/relationships/image" Target="../media/image41.png" /><Relationship Id="rId4" Type="http://schemas.openxmlformats.org/officeDocument/2006/relationships/image" Target="../media/image40.png" /><Relationship Id="rId9" Type="http://schemas.openxmlformats.org/officeDocument/2006/relationships/image" Target="../media/image45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 /><Relationship Id="rId13" Type="http://schemas.openxmlformats.org/officeDocument/2006/relationships/image" Target="../media/image57.png" /><Relationship Id="rId3" Type="http://schemas.openxmlformats.org/officeDocument/2006/relationships/image" Target="../media/image47.png" /><Relationship Id="rId7" Type="http://schemas.openxmlformats.org/officeDocument/2006/relationships/image" Target="../media/image51.png" /><Relationship Id="rId12" Type="http://schemas.openxmlformats.org/officeDocument/2006/relationships/image" Target="../media/image56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0.png" /><Relationship Id="rId11" Type="http://schemas.openxmlformats.org/officeDocument/2006/relationships/image" Target="../media/image55.png" /><Relationship Id="rId5" Type="http://schemas.openxmlformats.org/officeDocument/2006/relationships/image" Target="../media/image49.png" /><Relationship Id="rId10" Type="http://schemas.openxmlformats.org/officeDocument/2006/relationships/image" Target="../media/image54.png" /><Relationship Id="rId4" Type="http://schemas.openxmlformats.org/officeDocument/2006/relationships/image" Target="../media/image48.png" /><Relationship Id="rId9" Type="http://schemas.openxmlformats.org/officeDocument/2006/relationships/image" Target="../media/image53.png" /><Relationship Id="rId14" Type="http://schemas.openxmlformats.org/officeDocument/2006/relationships/image" Target="../media/image5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10775" y="0"/>
            <a:ext cx="8277225" cy="10287000"/>
          </a:xfrm>
          <a:custGeom>
            <a:avLst/>
            <a:gdLst/>
            <a:ahLst/>
            <a:cxnLst/>
            <a:rect l="l" t="t" r="r" b="b"/>
            <a:pathLst>
              <a:path w="8277225" h="10287000">
                <a:moveTo>
                  <a:pt x="0" y="0"/>
                </a:moveTo>
                <a:lnTo>
                  <a:pt x="8277225" y="0"/>
                </a:lnTo>
                <a:lnTo>
                  <a:pt x="8277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133850" y="0"/>
            <a:ext cx="9153525" cy="10287000"/>
          </a:xfrm>
          <a:custGeom>
            <a:avLst/>
            <a:gdLst/>
            <a:ahLst/>
            <a:cxnLst/>
            <a:rect l="l" t="t" r="r" b="b"/>
            <a:pathLst>
              <a:path w="9153525" h="10287000">
                <a:moveTo>
                  <a:pt x="0" y="0"/>
                </a:moveTo>
                <a:lnTo>
                  <a:pt x="9153525" y="0"/>
                </a:lnTo>
                <a:lnTo>
                  <a:pt x="9153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2960" y="1501889"/>
            <a:ext cx="5650992" cy="123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0"/>
              </a:lnSpc>
            </a:pPr>
            <a:r>
              <a:rPr lang="en-US" sz="7229">
                <a:solidFill>
                  <a:srgbClr val="133668"/>
                </a:solidFill>
                <a:latin typeface="Roboto"/>
                <a:ea typeface="Roboto"/>
                <a:cs typeface="Roboto"/>
                <a:sym typeface="Roboto"/>
              </a:rPr>
              <a:t>The Future of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2960" y="2493644"/>
            <a:ext cx="8814816" cy="17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90"/>
              </a:lnSpc>
            </a:pPr>
            <a:r>
              <a:rPr lang="en-US" sz="10064" b="1">
                <a:solidFill>
                  <a:srgbClr val="133668"/>
                </a:solidFill>
                <a:latin typeface="Roboto Bold"/>
                <a:ea typeface="Roboto Bold"/>
                <a:cs typeface="Roboto Bold"/>
                <a:sym typeface="Roboto Bold"/>
              </a:rPr>
              <a:t>Biotechnology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4157130"/>
            <a:ext cx="5340096" cy="1284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67"/>
              </a:lnSpc>
            </a:pPr>
            <a:r>
              <a:rPr lang="en-US" sz="7548">
                <a:solidFill>
                  <a:srgbClr val="133668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-US" sz="7548" b="1">
                <a:solidFill>
                  <a:srgbClr val="6A924A"/>
                </a:solidFill>
                <a:latin typeface="Roboto Bold"/>
                <a:ea typeface="Roboto Bold"/>
                <a:cs typeface="Roboto Bold"/>
                <a:sym typeface="Roboto Bold"/>
              </a:rPr>
              <a:t>Sri Lanka</a:t>
            </a:r>
          </a:p>
        </p:txBody>
      </p:sp>
      <p:sp>
        <p:nvSpPr>
          <p:cNvPr id="8" name="Freeform 8"/>
          <p:cNvSpPr/>
          <p:nvPr/>
        </p:nvSpPr>
        <p:spPr>
          <a:xfrm>
            <a:off x="647700" y="5781675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22960" y="6478261"/>
            <a:ext cx="2706624" cy="43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b="1">
                <a:solidFill>
                  <a:srgbClr val="133668"/>
                </a:solidFill>
                <a:latin typeface="Inter Bold"/>
                <a:ea typeface="Inter Bold"/>
                <a:cs typeface="Inter Bold"/>
                <a:sym typeface="Inter Bold"/>
              </a:rPr>
              <a:t>Sewwandi H. G. 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7006684"/>
            <a:ext cx="6967728" cy="156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2372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HS26510452</a:t>
            </a:r>
          </a:p>
          <a:p>
            <a:pPr algn="l">
              <a:lnSpc>
                <a:spcPts val="4270"/>
              </a:lnSpc>
            </a:pPr>
            <a:r>
              <a:rPr lang="en-US" sz="2372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SC1172 – Introduction to Information Technology</a:t>
            </a:r>
          </a:p>
          <a:p>
            <a:pPr algn="l">
              <a:lnSpc>
                <a:spcPts val="4270"/>
              </a:lnSpc>
            </a:pPr>
            <a:r>
              <a:rPr lang="en-US" sz="2372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BSc (Hons) in Biotechnology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0"/>
            <a:ext cx="9144000" cy="9220200"/>
          </a:xfrm>
          <a:custGeom>
            <a:avLst/>
            <a:gdLst/>
            <a:ahLst/>
            <a:cxnLst/>
            <a:rect l="l" t="t" r="r" b="b"/>
            <a:pathLst>
              <a:path w="9144000" h="9220200">
                <a:moveTo>
                  <a:pt x="0" y="0"/>
                </a:moveTo>
                <a:lnTo>
                  <a:pt x="9144000" y="0"/>
                </a:lnTo>
                <a:lnTo>
                  <a:pt x="914400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6775" y="0"/>
            <a:ext cx="3276600" cy="9220200"/>
          </a:xfrm>
          <a:custGeom>
            <a:avLst/>
            <a:gdLst/>
            <a:ahLst/>
            <a:cxnLst/>
            <a:rect l="l" t="t" r="r" b="b"/>
            <a:pathLst>
              <a:path w="3276600" h="9220200">
                <a:moveTo>
                  <a:pt x="0" y="0"/>
                </a:moveTo>
                <a:lnTo>
                  <a:pt x="3276600" y="0"/>
                </a:lnTo>
                <a:lnTo>
                  <a:pt x="327660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01850" y="0"/>
            <a:ext cx="3486150" cy="9220200"/>
          </a:xfrm>
          <a:custGeom>
            <a:avLst/>
            <a:gdLst/>
            <a:ahLst/>
            <a:cxnLst/>
            <a:rect l="l" t="t" r="r" b="b"/>
            <a:pathLst>
              <a:path w="3486150" h="9220200">
                <a:moveTo>
                  <a:pt x="0" y="0"/>
                </a:moveTo>
                <a:lnTo>
                  <a:pt x="3486150" y="0"/>
                </a:lnTo>
                <a:lnTo>
                  <a:pt x="348615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9808" y="783273"/>
            <a:ext cx="5504688" cy="112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</a:pPr>
            <a:r>
              <a:rPr lang="en-US" sz="6520">
                <a:solidFill>
                  <a:srgbClr val="133E6C"/>
                </a:solidFill>
                <a:latin typeface="Roboto"/>
                <a:ea typeface="Roboto"/>
                <a:cs typeface="Roboto"/>
                <a:sym typeface="Roboto"/>
              </a:rPr>
              <a:t>Introduction 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9808" y="1597154"/>
            <a:ext cx="7388352" cy="146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7"/>
              </a:lnSpc>
            </a:pPr>
            <a:r>
              <a:rPr lang="en-US" sz="8505" b="1">
                <a:solidFill>
                  <a:srgbClr val="133E6C"/>
                </a:solidFill>
                <a:latin typeface="Roboto Bold"/>
                <a:ea typeface="Roboto Bold"/>
                <a:cs typeface="Roboto Bold"/>
                <a:sym typeface="Roboto Bold"/>
              </a:rPr>
              <a:t>Biotechnology</a:t>
            </a:r>
          </a:p>
        </p:txBody>
      </p:sp>
      <p:sp>
        <p:nvSpPr>
          <p:cNvPr id="8" name="Freeform 8"/>
          <p:cNvSpPr/>
          <p:nvPr/>
        </p:nvSpPr>
        <p:spPr>
          <a:xfrm>
            <a:off x="647700" y="32099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9808" y="3835908"/>
            <a:ext cx="6272783" cy="93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800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Biotechnology combines biology and technology to improve life.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3722" y="5329145"/>
            <a:ext cx="5756042" cy="362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00" b="1">
                <a:solidFill>
                  <a:srgbClr val="5BA84A"/>
                </a:solidFill>
                <a:latin typeface="Inter Medium"/>
                <a:ea typeface="Inter Medium"/>
                <a:cs typeface="Inter Medium"/>
                <a:sym typeface="Inter Medium"/>
              </a:rPr>
              <a:t>KEY IMPACT AREAS FOR SRI LANKA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808" y="5938659"/>
            <a:ext cx="3829812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400" b="1">
                <a:solidFill>
                  <a:srgbClr val="545454"/>
                </a:solidFill>
                <a:latin typeface="Iskoola Pota" panose="020B0502040204020203" pitchFamily="34" charset="0"/>
                <a:ea typeface="Inter"/>
                <a:cs typeface="Iskoola Pota" panose="020B0502040204020203" pitchFamily="34" charset="0"/>
                <a:sym typeface="Inter"/>
              </a:rPr>
              <a:t>Improving crop yields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808" y="6406838"/>
            <a:ext cx="3054096" cy="41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0" b="1">
                <a:solidFill>
                  <a:srgbClr val="545454"/>
                </a:solidFill>
                <a:latin typeface="Iskoola Pota" panose="02000000000000000000" pitchFamily="2" charset="0"/>
                <a:ea typeface="Iskoola Pota" panose="02000000000000000000" pitchFamily="2" charset="0"/>
                <a:cs typeface="Inter"/>
                <a:sym typeface="Inter"/>
              </a:rPr>
              <a:t>Producing medicines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808" y="6891628"/>
            <a:ext cx="4393692" cy="395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400" b="1">
                <a:solidFill>
                  <a:srgbClr val="545454"/>
                </a:solidFill>
                <a:latin typeface="Iskoola Pota" panose="020B0502040204020203" pitchFamily="34" charset="0"/>
                <a:ea typeface="Inter"/>
                <a:cs typeface="Iskoola Pota" panose="020B0502040204020203" pitchFamily="34" charset="0"/>
                <a:sym typeface="Inter"/>
              </a:rPr>
              <a:t>Protecting the environment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808" y="7679817"/>
            <a:ext cx="60350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b="1">
                <a:solidFill>
                  <a:srgbClr val="133E6C"/>
                </a:solidFill>
                <a:latin typeface="Inter Bold"/>
                <a:ea typeface="Inter Bold"/>
                <a:cs typeface="Inter Bold"/>
                <a:sym typeface="Inter Bold"/>
              </a:rPr>
              <a:t>Powering a </a:t>
            </a:r>
            <a:r>
              <a:rPr lang="en-US" sz="3045" b="1">
                <a:solidFill>
                  <a:srgbClr val="5BA84A"/>
                </a:solidFill>
                <a:latin typeface="Inter Bold"/>
                <a:ea typeface="Inter Bold"/>
                <a:cs typeface="Inter Bold"/>
                <a:sym typeface="Inter Bold"/>
              </a:rPr>
              <a:t>healthier, greener</a:t>
            </a:r>
            <a:r>
              <a:rPr lang="en-US" sz="3045" b="1">
                <a:solidFill>
                  <a:srgbClr val="133E6C"/>
                </a:solidFill>
                <a:latin typeface="Inter Bold"/>
                <a:ea typeface="Inter Bold"/>
                <a:cs typeface="Inter Bold"/>
                <a:sym typeface="Inter Bold"/>
              </a:rPr>
              <a:t>, more prosperous Sri Lanka.</a:t>
            </a:r>
          </a:p>
        </p:txBody>
      </p:sp>
      <p:sp>
        <p:nvSpPr>
          <p:cNvPr id="16" name="Freeform 16"/>
          <p:cNvSpPr/>
          <p:nvPr/>
        </p:nvSpPr>
        <p:spPr>
          <a:xfrm>
            <a:off x="6743700" y="9001125"/>
            <a:ext cx="11544300" cy="1285875"/>
          </a:xfrm>
          <a:custGeom>
            <a:avLst/>
            <a:gdLst/>
            <a:ahLst/>
            <a:cxnLst/>
            <a:rect l="l" t="t" r="r" b="b"/>
            <a:pathLst>
              <a:path w="11544300" h="1285875">
                <a:moveTo>
                  <a:pt x="0" y="0"/>
                </a:moveTo>
                <a:lnTo>
                  <a:pt x="11544300" y="0"/>
                </a:lnTo>
                <a:lnTo>
                  <a:pt x="11544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6333" y="-16933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4672" y="583646"/>
            <a:ext cx="13094208" cy="1985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5"/>
              </a:lnSpc>
            </a:pPr>
            <a:r>
              <a:rPr lang="en-US" sz="7087" b="1" spc="-141">
                <a:solidFill>
                  <a:srgbClr val="082C54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Applications of Biotechnology in Sri Lanka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2571750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3000375"/>
            <a:ext cx="5667375" cy="3648075"/>
          </a:xfrm>
          <a:custGeom>
            <a:avLst/>
            <a:gdLst/>
            <a:ahLst/>
            <a:cxnLst/>
            <a:rect l="l" t="t" r="r" b="b"/>
            <a:pathLst>
              <a:path w="5667375" h="3648075">
                <a:moveTo>
                  <a:pt x="0" y="0"/>
                </a:moveTo>
                <a:lnTo>
                  <a:pt x="5667375" y="0"/>
                </a:lnTo>
                <a:lnTo>
                  <a:pt x="5667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6000750"/>
            <a:ext cx="5238750" cy="1285875"/>
          </a:xfrm>
          <a:custGeom>
            <a:avLst/>
            <a:gdLst/>
            <a:ahLst/>
            <a:cxnLst/>
            <a:rect l="l" t="t" r="r" b="b"/>
            <a:pathLst>
              <a:path w="5238750" h="1285875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78992" y="6244315"/>
            <a:ext cx="2761488" cy="68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44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Agriculture and Crop Improvement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8992" y="7257686"/>
            <a:ext cx="4601718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Use of tissue culture to produce disease-free plants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8992" y="7886589"/>
            <a:ext cx="453542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Example: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Tissue cultured banana plants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8992" y="8502968"/>
            <a:ext cx="305409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Benefit: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Higher yields and disease resistance</a:t>
            </a:r>
          </a:p>
        </p:txBody>
      </p:sp>
      <p:sp>
        <p:nvSpPr>
          <p:cNvPr id="11" name="Freeform 11"/>
          <p:cNvSpPr/>
          <p:nvPr/>
        </p:nvSpPr>
        <p:spPr>
          <a:xfrm>
            <a:off x="6305550" y="3000375"/>
            <a:ext cx="5676900" cy="3648075"/>
          </a:xfrm>
          <a:custGeom>
            <a:avLst/>
            <a:gdLst/>
            <a:ahLst/>
            <a:cxnLst/>
            <a:rect l="l" t="t" r="r" b="b"/>
            <a:pathLst>
              <a:path w="5676900" h="3648075">
                <a:moveTo>
                  <a:pt x="0" y="0"/>
                </a:moveTo>
                <a:lnTo>
                  <a:pt x="5676900" y="0"/>
                </a:lnTo>
                <a:lnTo>
                  <a:pt x="56769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05550" y="6000750"/>
            <a:ext cx="5238750" cy="1285875"/>
          </a:xfrm>
          <a:custGeom>
            <a:avLst/>
            <a:gdLst/>
            <a:ahLst/>
            <a:cxnLst/>
            <a:rect l="l" t="t" r="r" b="b"/>
            <a:pathLst>
              <a:path w="5238750" h="1285875">
                <a:moveTo>
                  <a:pt x="0" y="0"/>
                </a:moveTo>
                <a:lnTo>
                  <a:pt x="5238750" y="0"/>
                </a:lnTo>
                <a:lnTo>
                  <a:pt x="5238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766560" y="6244315"/>
            <a:ext cx="3438144" cy="68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44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Healthcare and Medical Biotechnology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66560" y="7376160"/>
            <a:ext cx="453542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Production of vaccines and diagnostics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8573" y="8029952"/>
            <a:ext cx="409651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Example: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Dengue vaccine research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0" y="8694098"/>
            <a:ext cx="354787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Benefit: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Better disease control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972925" y="3000375"/>
            <a:ext cx="5667375" cy="3648075"/>
          </a:xfrm>
          <a:custGeom>
            <a:avLst/>
            <a:gdLst/>
            <a:ahLst/>
            <a:cxnLst/>
            <a:rect l="l" t="t" r="r" b="b"/>
            <a:pathLst>
              <a:path w="5667375" h="3648075">
                <a:moveTo>
                  <a:pt x="0" y="0"/>
                </a:moveTo>
                <a:lnTo>
                  <a:pt x="5667375" y="0"/>
                </a:lnTo>
                <a:lnTo>
                  <a:pt x="5667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972925" y="6000750"/>
            <a:ext cx="5229225" cy="1285875"/>
          </a:xfrm>
          <a:custGeom>
            <a:avLst/>
            <a:gdLst/>
            <a:ahLst/>
            <a:cxnLst/>
            <a:rect l="l" t="t" r="r" b="b"/>
            <a:pathLst>
              <a:path w="5229225" h="1285875">
                <a:moveTo>
                  <a:pt x="0" y="0"/>
                </a:moveTo>
                <a:lnTo>
                  <a:pt x="5229225" y="0"/>
                </a:lnTo>
                <a:lnTo>
                  <a:pt x="5229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454128" y="6244315"/>
            <a:ext cx="2194560" cy="688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44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Environmental Biotechnology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54128" y="7376160"/>
            <a:ext cx="446227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Bioremediation to clean polluted water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54128" y="7985342"/>
            <a:ext cx="396849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Example: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Using microbes to treat industrial waste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54128" y="8641461"/>
            <a:ext cx="343814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2000" b="1">
                <a:solidFill>
                  <a:srgbClr val="428F32"/>
                </a:solidFill>
                <a:latin typeface="Inter Bold"/>
                <a:ea typeface="Inter Bold"/>
                <a:cs typeface="Inter Bold"/>
                <a:sym typeface="Inter Bold"/>
              </a:rPr>
              <a:t>Benefit: </a:t>
            </a:r>
            <a:r>
              <a:rPr lang="en-US" sz="2000" b="1">
                <a:solidFill>
                  <a:srgbClr val="082C54"/>
                </a:solidFill>
                <a:latin typeface="Inter"/>
                <a:ea typeface="Inter"/>
                <a:cs typeface="Inter"/>
                <a:sym typeface="Inter"/>
              </a:rPr>
              <a:t>Cleaner environment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4672" y="9661880"/>
            <a:ext cx="5065776" cy="348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Future of Biotechnology in Sri Lanka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82128" y="9661880"/>
            <a:ext cx="5449824" cy="348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SC1172 – Introduction to Information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72625" y="0"/>
            <a:ext cx="8715375" cy="3429000"/>
          </a:xfrm>
          <a:custGeom>
            <a:avLst/>
            <a:gdLst/>
            <a:ahLst/>
            <a:cxnLst/>
            <a:rect l="l" t="t" r="r" b="b"/>
            <a:pathLst>
              <a:path w="8715375" h="3429000">
                <a:moveTo>
                  <a:pt x="0" y="0"/>
                </a:moveTo>
                <a:lnTo>
                  <a:pt x="8715375" y="0"/>
                </a:lnTo>
                <a:lnTo>
                  <a:pt x="8715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16000" y="1924050"/>
            <a:ext cx="4572000" cy="5362575"/>
          </a:xfrm>
          <a:custGeom>
            <a:avLst/>
            <a:gdLst/>
            <a:ahLst/>
            <a:cxnLst/>
            <a:rect l="l" t="t" r="r" b="b"/>
            <a:pathLst>
              <a:path w="4572000" h="5362575">
                <a:moveTo>
                  <a:pt x="0" y="0"/>
                </a:moveTo>
                <a:lnTo>
                  <a:pt x="4572000" y="0"/>
                </a:lnTo>
                <a:lnTo>
                  <a:pt x="4572000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572625" y="6000750"/>
            <a:ext cx="8715375" cy="3648075"/>
          </a:xfrm>
          <a:custGeom>
            <a:avLst/>
            <a:gdLst/>
            <a:ahLst/>
            <a:cxnLst/>
            <a:rect l="l" t="t" r="r" b="b"/>
            <a:pathLst>
              <a:path w="8715375" h="3648075">
                <a:moveTo>
                  <a:pt x="0" y="0"/>
                </a:moveTo>
                <a:lnTo>
                  <a:pt x="8715375" y="0"/>
                </a:lnTo>
                <a:lnTo>
                  <a:pt x="87153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86775" y="0"/>
            <a:ext cx="3705225" cy="9648825"/>
          </a:xfrm>
          <a:custGeom>
            <a:avLst/>
            <a:gdLst/>
            <a:ahLst/>
            <a:cxnLst/>
            <a:rect l="l" t="t" r="r" b="b"/>
            <a:pathLst>
              <a:path w="3705225" h="9648825">
                <a:moveTo>
                  <a:pt x="0" y="0"/>
                </a:moveTo>
                <a:lnTo>
                  <a:pt x="3705225" y="0"/>
                </a:lnTo>
                <a:lnTo>
                  <a:pt x="3705225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05850" y="1714500"/>
            <a:ext cx="5667375" cy="6429375"/>
          </a:xfrm>
          <a:custGeom>
            <a:avLst/>
            <a:gdLst/>
            <a:ahLst/>
            <a:cxnLst/>
            <a:rect l="l" t="t" r="r" b="b"/>
            <a:pathLst>
              <a:path w="5667375" h="6429375">
                <a:moveTo>
                  <a:pt x="0" y="0"/>
                </a:moveTo>
                <a:lnTo>
                  <a:pt x="5667375" y="0"/>
                </a:lnTo>
                <a:lnTo>
                  <a:pt x="5667375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509760" y="3535104"/>
            <a:ext cx="3273552" cy="307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134074"/>
                </a:solidFill>
                <a:latin typeface="Roboto Bold"/>
                <a:ea typeface="Roboto Bold"/>
                <a:cs typeface="Roboto Bold"/>
                <a:sym typeface="Roboto Bold"/>
              </a:rPr>
              <a:t>Driving</a:t>
            </a:r>
          </a:p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5A9D4F"/>
                </a:solidFill>
                <a:latin typeface="Roboto Bold"/>
                <a:ea typeface="Roboto Bold"/>
                <a:cs typeface="Roboto Bold"/>
                <a:sym typeface="Roboto Bold"/>
              </a:rPr>
              <a:t>improved crops, </a:t>
            </a:r>
            <a:r>
              <a:rPr lang="en-US" sz="2939" b="1">
                <a:solidFill>
                  <a:srgbClr val="134074"/>
                </a:solidFill>
                <a:latin typeface="Roboto Bold"/>
                <a:ea typeface="Roboto Bold"/>
                <a:cs typeface="Roboto Bold"/>
                <a:sym typeface="Roboto Bold"/>
              </a:rPr>
              <a:t>better healthcare, and </a:t>
            </a:r>
            <a:r>
              <a:rPr lang="en-US" sz="2939" b="1">
                <a:solidFill>
                  <a:srgbClr val="5A9D4F"/>
                </a:solidFill>
                <a:latin typeface="Roboto Bold"/>
                <a:ea typeface="Roboto Bold"/>
                <a:cs typeface="Roboto Bold"/>
                <a:sym typeface="Roboto Bold"/>
              </a:rPr>
              <a:t>stronger research in</a:t>
            </a:r>
          </a:p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5A9D4F"/>
                </a:solidFill>
                <a:latin typeface="Roboto Bold"/>
                <a:ea typeface="Roboto Bold"/>
                <a:cs typeface="Roboto Bold"/>
                <a:sym typeface="Roboto Bold"/>
              </a:rPr>
              <a:t>Sri Lanka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596546"/>
            <a:ext cx="5559552" cy="235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2"/>
              </a:lnSpc>
            </a:pPr>
            <a:r>
              <a:rPr lang="en-US" sz="5775" b="1">
                <a:solidFill>
                  <a:srgbClr val="134074"/>
                </a:solidFill>
                <a:latin typeface="Roboto Bold"/>
                <a:ea typeface="Roboto Bold"/>
                <a:cs typeface="Roboto Bold"/>
                <a:sym typeface="Roboto Bold"/>
              </a:rPr>
              <a:t>Emerging Biotechnology Technologies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7700" y="3000375"/>
            <a:ext cx="2400300" cy="428625"/>
          </a:xfrm>
          <a:custGeom>
            <a:avLst/>
            <a:gdLst/>
            <a:ahLst/>
            <a:cxnLst/>
            <a:rect l="l" t="t" r="r" b="b"/>
            <a:pathLst>
              <a:path w="2400300" h="428625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86384" y="3575786"/>
            <a:ext cx="1664208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134074"/>
                </a:solidFill>
                <a:latin typeface="Inter Bold"/>
                <a:ea typeface="Inter Bold"/>
                <a:cs typeface="Inter Bold"/>
                <a:sym typeface="Inter Bold"/>
              </a:rPr>
              <a:t>CRISPR and Gene Editing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3048000" y="3638550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47872" y="3505614"/>
            <a:ext cx="3862578" cy="666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Precise DNA changes to improve crops and medicines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7700" y="428625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86384" y="4532477"/>
            <a:ext cx="1572768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5A9D4F"/>
                </a:solidFill>
                <a:latin typeface="Inter Bold"/>
                <a:ea typeface="Inter Bold"/>
                <a:cs typeface="Inter Bold"/>
                <a:sym typeface="Inter Bold"/>
              </a:rPr>
              <a:t>Genetic Engineering</a:t>
            </a:r>
          </a:p>
        </p:txBody>
      </p:sp>
      <p:sp>
        <p:nvSpPr>
          <p:cNvPr id="16" name="Freeform 16"/>
          <p:cNvSpPr/>
          <p:nvPr/>
        </p:nvSpPr>
        <p:spPr>
          <a:xfrm>
            <a:off x="3048000" y="4495800"/>
            <a:ext cx="219075" cy="866775"/>
          </a:xfrm>
          <a:custGeom>
            <a:avLst/>
            <a:gdLst/>
            <a:ahLst/>
            <a:cxnLst/>
            <a:rect l="l" t="t" r="r" b="b"/>
            <a:pathLst>
              <a:path w="219075" h="866775">
                <a:moveTo>
                  <a:pt x="0" y="0"/>
                </a:moveTo>
                <a:lnTo>
                  <a:pt x="219075" y="0"/>
                </a:lnTo>
                <a:lnTo>
                  <a:pt x="2190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47872" y="4558877"/>
            <a:ext cx="3218688" cy="68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Adding useful genes to plants and microbes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7700" y="535305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86384" y="5489168"/>
            <a:ext cx="1938528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134074"/>
                </a:solidFill>
                <a:latin typeface="Inter Bold"/>
                <a:ea typeface="Inter Bold"/>
                <a:cs typeface="Inter Bold"/>
                <a:sym typeface="Inter Bold"/>
              </a:rPr>
              <a:t>Bioinformatics and AI</a:t>
            </a:r>
          </a:p>
        </p:txBody>
      </p:sp>
      <p:sp>
        <p:nvSpPr>
          <p:cNvPr id="20" name="Freeform 20"/>
          <p:cNvSpPr/>
          <p:nvPr/>
        </p:nvSpPr>
        <p:spPr>
          <a:xfrm>
            <a:off x="3048000" y="5353050"/>
            <a:ext cx="219075" cy="866775"/>
          </a:xfrm>
          <a:custGeom>
            <a:avLst/>
            <a:gdLst/>
            <a:ahLst/>
            <a:cxnLst/>
            <a:rect l="l" t="t" r="r" b="b"/>
            <a:pathLst>
              <a:path w="219075" h="866775">
                <a:moveTo>
                  <a:pt x="0" y="0"/>
                </a:moveTo>
                <a:lnTo>
                  <a:pt x="219075" y="0"/>
                </a:lnTo>
                <a:lnTo>
                  <a:pt x="2190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547872" y="5499455"/>
            <a:ext cx="3218688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Using computers to analyze biological data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7700" y="621030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86384" y="6425285"/>
            <a:ext cx="1298448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5A9D4F"/>
                </a:solidFill>
                <a:latin typeface="Inter Bold"/>
                <a:ea typeface="Inter Bold"/>
                <a:cs typeface="Inter Bold"/>
                <a:sym typeface="Inter Bold"/>
              </a:rPr>
              <a:t>Synthetic Biology</a:t>
            </a:r>
          </a:p>
        </p:txBody>
      </p:sp>
      <p:sp>
        <p:nvSpPr>
          <p:cNvPr id="24" name="Freeform 24"/>
          <p:cNvSpPr/>
          <p:nvPr/>
        </p:nvSpPr>
        <p:spPr>
          <a:xfrm>
            <a:off x="3048000" y="6429375"/>
            <a:ext cx="219075" cy="857250"/>
          </a:xfrm>
          <a:custGeom>
            <a:avLst/>
            <a:gdLst/>
            <a:ahLst/>
            <a:cxnLst/>
            <a:rect l="l" t="t" r="r" b="b"/>
            <a:pathLst>
              <a:path w="219075" h="857250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547872" y="6464771"/>
            <a:ext cx="2944368" cy="10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Designing new biological parts and systems</a:t>
            </a:r>
          </a:p>
        </p:txBody>
      </p:sp>
      <p:sp>
        <p:nvSpPr>
          <p:cNvPr id="26" name="Freeform 26"/>
          <p:cNvSpPr/>
          <p:nvPr/>
        </p:nvSpPr>
        <p:spPr>
          <a:xfrm>
            <a:off x="647700" y="7067550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86384" y="7381976"/>
            <a:ext cx="950976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134074"/>
                </a:solidFill>
                <a:latin typeface="Inter Bold"/>
                <a:ea typeface="Inter Bold"/>
                <a:cs typeface="Inter Bold"/>
                <a:sym typeface="Inter Bold"/>
              </a:rPr>
              <a:t>Tissue Culture</a:t>
            </a:r>
          </a:p>
        </p:txBody>
      </p:sp>
      <p:sp>
        <p:nvSpPr>
          <p:cNvPr id="28" name="Freeform 28"/>
          <p:cNvSpPr/>
          <p:nvPr/>
        </p:nvSpPr>
        <p:spPr>
          <a:xfrm>
            <a:off x="3048000" y="7286625"/>
            <a:ext cx="219075" cy="857250"/>
          </a:xfrm>
          <a:custGeom>
            <a:avLst/>
            <a:gdLst/>
            <a:ahLst/>
            <a:cxnLst/>
            <a:rect l="l" t="t" r="r" b="b"/>
            <a:pathLst>
              <a:path w="219075" h="857250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547872" y="7412837"/>
            <a:ext cx="2267712" cy="70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Growing plants and cells in labs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" y="8143875"/>
            <a:ext cx="7410450" cy="219075"/>
          </a:xfrm>
          <a:custGeom>
            <a:avLst/>
            <a:gdLst/>
            <a:ahLst/>
            <a:cxnLst/>
            <a:rect l="l" t="t" r="r" b="b"/>
            <a:pathLst>
              <a:path w="7410450" h="219075">
                <a:moveTo>
                  <a:pt x="0" y="0"/>
                </a:moveTo>
                <a:lnTo>
                  <a:pt x="7410450" y="0"/>
                </a:lnTo>
                <a:lnTo>
                  <a:pt x="7410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86384" y="8324570"/>
            <a:ext cx="1280160" cy="348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5A9D4F"/>
                </a:solidFill>
                <a:latin typeface="Inter Bold"/>
                <a:ea typeface="Inter Bold"/>
                <a:cs typeface="Inter Bold"/>
                <a:sym typeface="Inter Bold"/>
              </a:rPr>
              <a:t>Genomics</a:t>
            </a:r>
          </a:p>
        </p:txBody>
      </p:sp>
      <p:sp>
        <p:nvSpPr>
          <p:cNvPr id="32" name="Freeform 32"/>
          <p:cNvSpPr/>
          <p:nvPr/>
        </p:nvSpPr>
        <p:spPr>
          <a:xfrm>
            <a:off x="3048000" y="8353425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547872" y="8386466"/>
            <a:ext cx="3730752" cy="100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000" b="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Studying all genes of organisms for better understanding</a:t>
            </a:r>
          </a:p>
        </p:txBody>
      </p:sp>
      <p:sp>
        <p:nvSpPr>
          <p:cNvPr id="35" name="Freeform 35"/>
          <p:cNvSpPr/>
          <p:nvPr/>
        </p:nvSpPr>
        <p:spPr>
          <a:xfrm>
            <a:off x="6743700" y="9429750"/>
            <a:ext cx="11544300" cy="857250"/>
          </a:xfrm>
          <a:custGeom>
            <a:avLst/>
            <a:gdLst/>
            <a:ahLst/>
            <a:cxnLst/>
            <a:rect l="l" t="t" r="r" b="b"/>
            <a:pathLst>
              <a:path w="11544300" h="857250">
                <a:moveTo>
                  <a:pt x="0" y="0"/>
                </a:moveTo>
                <a:lnTo>
                  <a:pt x="11544300" y="0"/>
                </a:lnTo>
                <a:lnTo>
                  <a:pt x="11544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10775" y="0"/>
            <a:ext cx="8277225" cy="9220200"/>
          </a:xfrm>
          <a:custGeom>
            <a:avLst/>
            <a:gdLst/>
            <a:ahLst/>
            <a:cxnLst/>
            <a:rect l="l" t="t" r="r" b="b"/>
            <a:pathLst>
              <a:path w="8277225" h="9220200">
                <a:moveTo>
                  <a:pt x="0" y="0"/>
                </a:moveTo>
                <a:lnTo>
                  <a:pt x="8277225" y="0"/>
                </a:lnTo>
                <a:lnTo>
                  <a:pt x="827722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48925" y="0"/>
            <a:ext cx="7839075" cy="9220200"/>
          </a:xfrm>
          <a:custGeom>
            <a:avLst/>
            <a:gdLst/>
            <a:ahLst/>
            <a:cxnLst/>
            <a:rect l="l" t="t" r="r" b="b"/>
            <a:pathLst>
              <a:path w="7839075" h="9220200">
                <a:moveTo>
                  <a:pt x="0" y="0"/>
                </a:moveTo>
                <a:lnTo>
                  <a:pt x="7839075" y="0"/>
                </a:lnTo>
                <a:lnTo>
                  <a:pt x="7839075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8096" y="1019747"/>
            <a:ext cx="8759952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>
                <a:solidFill>
                  <a:srgbClr val="0A3A65"/>
                </a:solidFill>
                <a:latin typeface="Roboto Bold"/>
                <a:ea typeface="Roboto Bold"/>
                <a:cs typeface="Roboto Bold"/>
                <a:sym typeface="Roboto Bold"/>
              </a:rPr>
              <a:t>Career Opportunities in Biotechnology</a:t>
            </a:r>
          </a:p>
        </p:txBody>
      </p:sp>
      <p:sp>
        <p:nvSpPr>
          <p:cNvPr id="7" name="Freeform 7"/>
          <p:cNvSpPr/>
          <p:nvPr/>
        </p:nvSpPr>
        <p:spPr>
          <a:xfrm>
            <a:off x="647700" y="3638550"/>
            <a:ext cx="5019675" cy="866775"/>
          </a:xfrm>
          <a:custGeom>
            <a:avLst/>
            <a:gdLst/>
            <a:ahLst/>
            <a:cxnLst/>
            <a:rect l="l" t="t" r="r" b="b"/>
            <a:pathLst>
              <a:path w="5019675" h="866775">
                <a:moveTo>
                  <a:pt x="0" y="0"/>
                </a:moveTo>
                <a:lnTo>
                  <a:pt x="5019675" y="0"/>
                </a:lnTo>
                <a:lnTo>
                  <a:pt x="5019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7700" y="4286250"/>
            <a:ext cx="5019675" cy="4714875"/>
          </a:xfrm>
          <a:custGeom>
            <a:avLst/>
            <a:gdLst/>
            <a:ahLst/>
            <a:cxnLst/>
            <a:rect l="l" t="t" r="r" b="b"/>
            <a:pathLst>
              <a:path w="5019675" h="4714875">
                <a:moveTo>
                  <a:pt x="0" y="0"/>
                </a:moveTo>
                <a:lnTo>
                  <a:pt x="5019675" y="0"/>
                </a:lnTo>
                <a:lnTo>
                  <a:pt x="50196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17436" y="4610100"/>
            <a:ext cx="4187952" cy="362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Research Scientist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Biotechnologist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Microbiologist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Control/Assurance Officer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Bioinformatics Specialist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Agricultural Biotechnologist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Environmental Biotechnologist</a:t>
            </a:r>
          </a:p>
          <a:p>
            <a:pPr algn="l">
              <a:lnSpc>
                <a:spcPts val="3632"/>
              </a:lnSpc>
            </a:pPr>
            <a:r>
              <a:rPr lang="en-US" sz="2017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Food Technologist</a:t>
            </a:r>
          </a:p>
        </p:txBody>
      </p:sp>
      <p:sp>
        <p:nvSpPr>
          <p:cNvPr id="10" name="Freeform 10"/>
          <p:cNvSpPr/>
          <p:nvPr/>
        </p:nvSpPr>
        <p:spPr>
          <a:xfrm>
            <a:off x="5657850" y="3638550"/>
            <a:ext cx="4143375" cy="866775"/>
          </a:xfrm>
          <a:custGeom>
            <a:avLst/>
            <a:gdLst/>
            <a:ahLst/>
            <a:cxnLst/>
            <a:rect l="l" t="t" r="r" b="b"/>
            <a:pathLst>
              <a:path w="4143375" h="866775">
                <a:moveTo>
                  <a:pt x="0" y="0"/>
                </a:moveTo>
                <a:lnTo>
                  <a:pt x="4143375" y="0"/>
                </a:lnTo>
                <a:lnTo>
                  <a:pt x="4143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344" y="3955833"/>
            <a:ext cx="2926080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SKILLS TO DEVELOP</a:t>
            </a:r>
          </a:p>
        </p:txBody>
      </p:sp>
      <p:sp>
        <p:nvSpPr>
          <p:cNvPr id="12" name="Freeform 12"/>
          <p:cNvSpPr/>
          <p:nvPr/>
        </p:nvSpPr>
        <p:spPr>
          <a:xfrm>
            <a:off x="5657850" y="4286250"/>
            <a:ext cx="4143375" cy="4714875"/>
          </a:xfrm>
          <a:custGeom>
            <a:avLst/>
            <a:gdLst/>
            <a:ahLst/>
            <a:cxnLst/>
            <a:rect l="l" t="t" r="r" b="b"/>
            <a:pathLst>
              <a:path w="4143375" h="4714875">
                <a:moveTo>
                  <a:pt x="0" y="0"/>
                </a:moveTo>
                <a:lnTo>
                  <a:pt x="4143375" y="0"/>
                </a:lnTo>
                <a:lnTo>
                  <a:pt x="41433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24625" y="9001125"/>
            <a:ext cx="11763375" cy="1285875"/>
          </a:xfrm>
          <a:custGeom>
            <a:avLst/>
            <a:gdLst/>
            <a:ahLst/>
            <a:cxnLst/>
            <a:rect l="l" t="t" r="r" b="b"/>
            <a:pathLst>
              <a:path w="11763375" h="1285875">
                <a:moveTo>
                  <a:pt x="0" y="0"/>
                </a:moveTo>
                <a:lnTo>
                  <a:pt x="11763375" y="0"/>
                </a:lnTo>
                <a:lnTo>
                  <a:pt x="11763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4128" y="3955383"/>
            <a:ext cx="2194560" cy="41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CAREER PATHS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81344" y="5055829"/>
            <a:ext cx="2852928" cy="274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2000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Laboratory techniques</a:t>
            </a:r>
          </a:p>
          <a:p>
            <a:pPr algn="l">
              <a:lnSpc>
                <a:spcPts val="3058"/>
              </a:lnSpc>
            </a:pPr>
            <a:endParaRPr lang="en-US" sz="2000" b="1">
              <a:solidFill>
                <a:srgbClr val="36363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l">
              <a:lnSpc>
                <a:spcPts val="3058"/>
              </a:lnSpc>
            </a:pPr>
            <a:r>
              <a:rPr lang="en-US" sz="2000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Data analysis and computer skills</a:t>
            </a:r>
          </a:p>
          <a:p>
            <a:pPr algn="l">
              <a:lnSpc>
                <a:spcPts val="3058"/>
              </a:lnSpc>
            </a:pPr>
            <a:endParaRPr lang="en-US" sz="2000" b="1">
              <a:solidFill>
                <a:srgbClr val="363636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l">
              <a:lnSpc>
                <a:spcPts val="3058"/>
              </a:lnSpc>
            </a:pPr>
            <a:r>
              <a:rPr lang="en-US" sz="2000" b="1">
                <a:solidFill>
                  <a:srgbClr val="363636"/>
                </a:solidFill>
                <a:latin typeface="Inter Medium"/>
                <a:ea typeface="Inter Medium"/>
                <a:cs typeface="Inter Medium"/>
                <a:sym typeface="Inter Medium"/>
              </a:rPr>
              <a:t>Communication and research 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1248" y="505523"/>
            <a:ext cx="8119872" cy="184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2"/>
              </a:lnSpc>
            </a:pPr>
            <a:r>
              <a:rPr lang="en-US" sz="6520" b="1" spc="-130">
                <a:solidFill>
                  <a:srgbClr val="134579"/>
                </a:solidFill>
                <a:latin typeface="Roboto Bold"/>
                <a:ea typeface="Roboto Bold"/>
                <a:cs typeface="Roboto Bold"/>
                <a:sym typeface="Roboto Bold"/>
              </a:rPr>
              <a:t>Future Opportunities and Challenges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2352675"/>
            <a:ext cx="2190750" cy="438150"/>
          </a:xfrm>
          <a:custGeom>
            <a:avLst/>
            <a:gdLst/>
            <a:ahLst/>
            <a:cxnLst/>
            <a:rect l="l" t="t" r="r" b="b"/>
            <a:pathLst>
              <a:path w="2190750" h="438150">
                <a:moveTo>
                  <a:pt x="0" y="0"/>
                </a:moveTo>
                <a:lnTo>
                  <a:pt x="2190750" y="0"/>
                </a:lnTo>
                <a:lnTo>
                  <a:pt x="2190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52144" y="3247611"/>
            <a:ext cx="2596896" cy="3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585" b="1" spc="-51">
                <a:solidFill>
                  <a:srgbClr val="65A45B"/>
                </a:solidFill>
                <a:latin typeface="Roboto Bold"/>
                <a:ea typeface="Roboto Bold"/>
                <a:cs typeface="Roboto Bold"/>
                <a:sym typeface="Roboto Bold"/>
              </a:rPr>
              <a:t>OPPORTUNITIES</a:t>
            </a:r>
          </a:p>
        </p:txBody>
      </p:sp>
      <p:sp>
        <p:nvSpPr>
          <p:cNvPr id="6" name="Freeform 6"/>
          <p:cNvSpPr/>
          <p:nvPr/>
        </p:nvSpPr>
        <p:spPr>
          <a:xfrm>
            <a:off x="647700" y="3638550"/>
            <a:ext cx="4581525" cy="1724025"/>
          </a:xfrm>
          <a:custGeom>
            <a:avLst/>
            <a:gdLst/>
            <a:ahLst/>
            <a:cxnLst/>
            <a:rect l="l" t="t" r="r" b="b"/>
            <a:pathLst>
              <a:path w="4581525" h="1724025">
                <a:moveTo>
                  <a:pt x="0" y="0"/>
                </a:moveTo>
                <a:lnTo>
                  <a:pt x="4581525" y="0"/>
                </a:lnTo>
                <a:lnTo>
                  <a:pt x="45815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52144" y="3769006"/>
            <a:ext cx="2981706" cy="124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Boost agriculture productivity and food security</a:t>
            </a:r>
          </a:p>
        </p:txBody>
      </p:sp>
      <p:sp>
        <p:nvSpPr>
          <p:cNvPr id="8" name="Freeform 8"/>
          <p:cNvSpPr/>
          <p:nvPr/>
        </p:nvSpPr>
        <p:spPr>
          <a:xfrm>
            <a:off x="647700" y="5143500"/>
            <a:ext cx="4581525" cy="1714500"/>
          </a:xfrm>
          <a:custGeom>
            <a:avLst/>
            <a:gdLst/>
            <a:ahLst/>
            <a:cxnLst/>
            <a:rect l="l" t="t" r="r" b="b"/>
            <a:pathLst>
              <a:path w="4581525" h="1714500">
                <a:moveTo>
                  <a:pt x="0" y="0"/>
                </a:moveTo>
                <a:lnTo>
                  <a:pt x="4581525" y="0"/>
                </a:lnTo>
                <a:lnTo>
                  <a:pt x="4581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52144" y="5483506"/>
            <a:ext cx="2852928" cy="124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Advance healthcare with new medicines and diagnostics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7700" y="6858000"/>
            <a:ext cx="4581525" cy="1714500"/>
          </a:xfrm>
          <a:custGeom>
            <a:avLst/>
            <a:gdLst/>
            <a:ahLst/>
            <a:cxnLst/>
            <a:rect l="l" t="t" r="r" b="b"/>
            <a:pathLst>
              <a:path w="4581525" h="1714500">
                <a:moveTo>
                  <a:pt x="0" y="0"/>
                </a:moveTo>
                <a:lnTo>
                  <a:pt x="4581525" y="0"/>
                </a:lnTo>
                <a:lnTo>
                  <a:pt x="4581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2144" y="7160287"/>
            <a:ext cx="2962656" cy="124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Protect environment through sustainable biotech solutions</a:t>
            </a:r>
          </a:p>
        </p:txBody>
      </p:sp>
      <p:sp>
        <p:nvSpPr>
          <p:cNvPr id="12" name="Freeform 12"/>
          <p:cNvSpPr/>
          <p:nvPr/>
        </p:nvSpPr>
        <p:spPr>
          <a:xfrm>
            <a:off x="5219700" y="4067175"/>
            <a:ext cx="1314450" cy="2790825"/>
          </a:xfrm>
          <a:custGeom>
            <a:avLst/>
            <a:gdLst/>
            <a:ahLst/>
            <a:cxnLst/>
            <a:rect l="l" t="t" r="r" b="b"/>
            <a:pathLst>
              <a:path w="1314450" h="2790825">
                <a:moveTo>
                  <a:pt x="0" y="0"/>
                </a:moveTo>
                <a:lnTo>
                  <a:pt x="1314450" y="0"/>
                </a:lnTo>
                <a:lnTo>
                  <a:pt x="1314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96000" y="2571750"/>
            <a:ext cx="2181225" cy="5362575"/>
          </a:xfrm>
          <a:custGeom>
            <a:avLst/>
            <a:gdLst/>
            <a:ahLst/>
            <a:cxnLst/>
            <a:rect l="l" t="t" r="r" b="b"/>
            <a:pathLst>
              <a:path w="2181225" h="5362575">
                <a:moveTo>
                  <a:pt x="0" y="0"/>
                </a:moveTo>
                <a:lnTo>
                  <a:pt x="2181225" y="0"/>
                </a:lnTo>
                <a:lnTo>
                  <a:pt x="218122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048625" y="2571750"/>
            <a:ext cx="1971675" cy="5572125"/>
          </a:xfrm>
          <a:custGeom>
            <a:avLst/>
            <a:gdLst/>
            <a:ahLst/>
            <a:cxnLst/>
            <a:rect l="l" t="t" r="r" b="b"/>
            <a:pathLst>
              <a:path w="1971675" h="5572125">
                <a:moveTo>
                  <a:pt x="0" y="0"/>
                </a:moveTo>
                <a:lnTo>
                  <a:pt x="1971675" y="0"/>
                </a:lnTo>
                <a:lnTo>
                  <a:pt x="1971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010775" y="2781300"/>
            <a:ext cx="1971675" cy="5153025"/>
          </a:xfrm>
          <a:custGeom>
            <a:avLst/>
            <a:gdLst/>
            <a:ahLst/>
            <a:cxnLst/>
            <a:rect l="l" t="t" r="r" b="b"/>
            <a:pathLst>
              <a:path w="1971675" h="5153025">
                <a:moveTo>
                  <a:pt x="0" y="0"/>
                </a:moveTo>
                <a:lnTo>
                  <a:pt x="1971675" y="0"/>
                </a:lnTo>
                <a:lnTo>
                  <a:pt x="197167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13664" y="3247611"/>
            <a:ext cx="2176272" cy="3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2585" b="1" spc="-51">
                <a:solidFill>
                  <a:srgbClr val="134579"/>
                </a:solidFill>
                <a:latin typeface="Roboto Bold"/>
                <a:ea typeface="Roboto Bold"/>
                <a:cs typeface="Roboto Bold"/>
                <a:sym typeface="Roboto Bold"/>
              </a:rPr>
              <a:t>CHALLENGES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839700" y="3638550"/>
            <a:ext cx="4362450" cy="1724025"/>
          </a:xfrm>
          <a:custGeom>
            <a:avLst/>
            <a:gdLst/>
            <a:ahLst/>
            <a:cxnLst/>
            <a:rect l="l" t="t" r="r" b="b"/>
            <a:pathLst>
              <a:path w="4362450" h="1724025">
                <a:moveTo>
                  <a:pt x="0" y="0"/>
                </a:moveTo>
                <a:lnTo>
                  <a:pt x="4362450" y="0"/>
                </a:lnTo>
                <a:lnTo>
                  <a:pt x="4362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313664" y="4057579"/>
            <a:ext cx="2962656" cy="80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478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High cost of advanced equipment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839700" y="5143500"/>
            <a:ext cx="4362450" cy="1714500"/>
          </a:xfrm>
          <a:custGeom>
            <a:avLst/>
            <a:gdLst/>
            <a:ahLst/>
            <a:cxnLst/>
            <a:rect l="l" t="t" r="r" b="b"/>
            <a:pathLst>
              <a:path w="4362450" h="1714500">
                <a:moveTo>
                  <a:pt x="0" y="0"/>
                </a:moveTo>
                <a:lnTo>
                  <a:pt x="4362450" y="0"/>
                </a:lnTo>
                <a:lnTo>
                  <a:pt x="43624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313664" y="5427867"/>
            <a:ext cx="2574036" cy="124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Need for skilled workforce and training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839700" y="6858000"/>
            <a:ext cx="4362450" cy="1714500"/>
          </a:xfrm>
          <a:custGeom>
            <a:avLst/>
            <a:gdLst/>
            <a:ahLst/>
            <a:cxnLst/>
            <a:rect l="l" t="t" r="r" b="b"/>
            <a:pathLst>
              <a:path w="4362450" h="1714500">
                <a:moveTo>
                  <a:pt x="0" y="0"/>
                </a:moveTo>
                <a:lnTo>
                  <a:pt x="4362450" y="0"/>
                </a:lnTo>
                <a:lnTo>
                  <a:pt x="43624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313664" y="7044844"/>
            <a:ext cx="2574036" cy="124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514" b="1">
                <a:solidFill>
                  <a:srgbClr val="3E5D73"/>
                </a:solidFill>
                <a:latin typeface="Roboto"/>
                <a:ea typeface="Roboto"/>
                <a:cs typeface="Roboto"/>
                <a:sym typeface="Roboto"/>
              </a:rPr>
              <a:t>Ethical concerns and regulation requirements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534775" y="4067175"/>
            <a:ext cx="1314450" cy="2790825"/>
          </a:xfrm>
          <a:custGeom>
            <a:avLst/>
            <a:gdLst/>
            <a:ahLst/>
            <a:cxnLst/>
            <a:rect l="l" t="t" r="r" b="b"/>
            <a:pathLst>
              <a:path w="1314450" h="2790825">
                <a:moveTo>
                  <a:pt x="0" y="0"/>
                </a:moveTo>
                <a:lnTo>
                  <a:pt x="1314450" y="0"/>
                </a:lnTo>
                <a:lnTo>
                  <a:pt x="13144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342475" y="773639"/>
            <a:ext cx="7095744" cy="137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2"/>
              </a:lnSpc>
            </a:pPr>
            <a:r>
              <a:rPr lang="en-US" sz="8008" b="1">
                <a:solidFill>
                  <a:srgbClr val="13406A"/>
                </a:solidFill>
                <a:latin typeface="Roboto Bold"/>
                <a:ea typeface="Roboto Bold"/>
                <a:cs typeface="Roboto Bold"/>
                <a:sym typeface="Roboto Bold"/>
              </a:rPr>
              <a:t>Conclusion and</a:t>
            </a:r>
          </a:p>
        </p:txBody>
      </p:sp>
      <p:sp>
        <p:nvSpPr>
          <p:cNvPr id="6" name="Freeform 6"/>
          <p:cNvSpPr/>
          <p:nvPr/>
        </p:nvSpPr>
        <p:spPr>
          <a:xfrm>
            <a:off x="1174749" y="1994368"/>
            <a:ext cx="7263469" cy="156996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90665" y="3884383"/>
            <a:ext cx="13779584" cy="1033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endParaRPr lang="en-US" sz="4000" dirty="0">
              <a:solidFill>
                <a:srgbClr val="545454"/>
              </a:solidFill>
              <a:latin typeface="+mj-lt"/>
              <a:ea typeface="Roboto"/>
              <a:cs typeface="Arial Black" panose="020B0604020202020204" pitchFamily="34" charset="0"/>
              <a:sym typeface="Robot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90665" y="5009655"/>
            <a:ext cx="13684335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endParaRPr lang="en-US" sz="4000" dirty="0">
              <a:solidFill>
                <a:srgbClr val="545454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81682" y="6901713"/>
            <a:ext cx="13959417" cy="1006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7"/>
              </a:lnSpc>
            </a:pPr>
            <a:r>
              <a:rPr lang="en-US" sz="4800" b="1">
                <a:solidFill>
                  <a:srgbClr val="5F9D59"/>
                </a:solidFill>
                <a:latin typeface="Roboto Bold"/>
                <a:ea typeface="Roboto Bold"/>
                <a:cs typeface="Roboto Bold"/>
                <a:sym typeface="Roboto Bold"/>
              </a:rPr>
              <a:t>Embrace </a:t>
            </a:r>
            <a:r>
              <a:rPr lang="en-US" sz="4800" b="1">
                <a:solidFill>
                  <a:srgbClr val="13406A"/>
                </a:solidFill>
                <a:latin typeface="Roboto Bold"/>
                <a:ea typeface="Roboto Bold"/>
                <a:cs typeface="Roboto Bold"/>
                <a:sym typeface="Roboto Bold"/>
              </a:rPr>
              <a:t>biotechnology studies and shape a better tomorrow for Sri Lanka.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1391" y="773639"/>
            <a:ext cx="6748272" cy="146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7"/>
              </a:lnSpc>
            </a:pPr>
            <a:r>
              <a:rPr lang="en-US" sz="8505" b="1">
                <a:solidFill>
                  <a:srgbClr val="5F9D59"/>
                </a:solidFill>
                <a:latin typeface="Roboto Bold"/>
                <a:ea typeface="Roboto Bold"/>
                <a:cs typeface="Roboto Bold"/>
                <a:sym typeface="Roboto Bold"/>
              </a:rPr>
              <a:t>Call to 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8993B3-A919-301F-FE7D-593784149CF4}"/>
              </a:ext>
            </a:extLst>
          </p:cNvPr>
          <p:cNvSpPr/>
          <p:nvPr/>
        </p:nvSpPr>
        <p:spPr>
          <a:xfrm>
            <a:off x="1781681" y="3553198"/>
            <a:ext cx="13959417" cy="2279650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545454"/>
                </a:solidFill>
                <a:latin typeface="+mj-lt"/>
                <a:ea typeface="Roboto"/>
                <a:cs typeface="Arial Black" panose="020B0604020202020204" pitchFamily="34" charset="0"/>
                <a:sym typeface="Roboto"/>
              </a:rPr>
              <a:t>Biotechnology harnesses science and technology to improve lives in Sri Lanka. </a:t>
            </a:r>
            <a:r>
              <a:rPr lang="en-US" sz="3600" dirty="0">
                <a:solidFill>
                  <a:srgbClr val="545454"/>
                </a:solidFill>
                <a:latin typeface="+mj-lt"/>
                <a:ea typeface="Roboto"/>
                <a:cs typeface="Roboto"/>
                <a:sym typeface="Roboto"/>
              </a:rPr>
              <a:t>It opens doors to exciting careers and innovations for the future.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987552"/>
            <a:ext cx="16184880" cy="10287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Aptos ExtraBold" panose="020B0004020202020204" pitchFamily="34" charset="0"/>
                <a:ea typeface="Amasis MT Pro Black" panose="02000000000000000000" pitchFamily="2" charset="0"/>
                <a:cs typeface="Cambria" pitchFamily="34" charset="-120"/>
              </a:rPr>
              <a:t>AI Contribution &amp; Reflection</a:t>
            </a:r>
            <a:endParaRPr lang="en-US" sz="8000" dirty="0">
              <a:solidFill>
                <a:schemeClr val="tx2">
                  <a:lumMod val="75000"/>
                </a:schemeClr>
              </a:solidFill>
              <a:latin typeface="Aptos ExtraBold" panose="020B0004020202020204" pitchFamily="34" charset="0"/>
              <a:ea typeface="Amasis MT Pro Black" panose="02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0120" y="2660904"/>
            <a:ext cx="10012680" cy="4800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250692"/>
            <a:ext cx="10012680" cy="1371600"/>
          </a:xfrm>
          <a:prstGeom prst="roundRect">
            <a:avLst>
              <a:gd name="adj" fmla="val 6000"/>
            </a:avLst>
          </a:prstGeom>
          <a:solidFill>
            <a:srgbClr val="BFE4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4420" y="3442716"/>
            <a:ext cx="9464040" cy="11658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16302B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Calibri" pitchFamily="34" charset="-120"/>
              </a:rPr>
              <a:t>“Create an 8-slide PowerPoint for SC1172 on the future of biotechnology in Sri Lanka, covering applications, emerging technologies, careers, and challenges, with speaker notes and real references.”</a:t>
            </a:r>
            <a:endParaRPr lang="en-US" sz="2000" dirty="0">
              <a:latin typeface="Bahnschrift SemiBold" panose="02000000000000000000" pitchFamily="2" charset="0"/>
              <a:ea typeface="Bahnschrift SemiBold" panose="020000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5877" y="4862322"/>
            <a:ext cx="10012680" cy="4800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Response (Summary)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0100" y="5541264"/>
            <a:ext cx="10012680" cy="11658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r>
              <a:rPr lang="en-US" sz="2000" dirty="0">
                <a:solidFill>
                  <a:srgbClr val="16302B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Calibri" pitchFamily="34" charset="-120"/>
              </a:rPr>
              <a:t>The AI produced a full 8-slide outline and design covering an introduction to biotechnology, real Sri Lankan applications, emerging technologies, career paths, future challenges, a conclusion, and formatted speaker notes with credible references.</a:t>
            </a:r>
            <a:endParaRPr lang="en-US" sz="2000" dirty="0">
              <a:latin typeface="Bahnschrift SemiBold" panose="02000000000000000000" pitchFamily="2" charset="0"/>
              <a:ea typeface="Bahnschrift SemiBold" panose="02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5877" y="6954012"/>
            <a:ext cx="10012680" cy="4800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Edited &amp; Verified the Content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7447788"/>
            <a:ext cx="10012680" cy="15087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900"/>
              </a:spcAft>
              <a:buSzPct val="100000"/>
              <a:buChar char="●"/>
            </a:pPr>
            <a:r>
              <a:rPr lang="en-US" sz="2000" dirty="0">
                <a:solidFill>
                  <a:srgbClr val="16302B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Calibri" pitchFamily="34" charset="-120"/>
              </a:rPr>
              <a:t>Checked that every reference and URL was real and working.</a:t>
            </a:r>
            <a:endParaRPr lang="en-US" sz="2000" dirty="0">
              <a:latin typeface="Bahnschrift SemiBold" panose="02000000000000000000" pitchFamily="2" charset="0"/>
              <a:ea typeface="Bahnschrift SemiBold" panose="02000000000000000000" pitchFamily="2" charset="0"/>
            </a:endParaRPr>
          </a:p>
          <a:p>
            <a:pPr marL="514350" indent="-514350">
              <a:spcAft>
                <a:spcPts val="900"/>
              </a:spcAft>
              <a:buSzPct val="100000"/>
              <a:buChar char="●"/>
            </a:pPr>
            <a:r>
              <a:rPr lang="en-US" sz="2000" dirty="0">
                <a:solidFill>
                  <a:srgbClr val="16302B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Calibri" pitchFamily="34" charset="-120"/>
              </a:rPr>
              <a:t>Rewrote some slide wording in my own words for my presenting style.</a:t>
            </a:r>
            <a:endParaRPr lang="en-US" sz="2000" dirty="0">
              <a:latin typeface="Bahnschrift SemiBold" panose="02000000000000000000" pitchFamily="2" charset="0"/>
              <a:ea typeface="Bahnschrift SemiBold" panose="02000000000000000000" pitchFamily="2" charset="0"/>
            </a:endParaRPr>
          </a:p>
          <a:p>
            <a:pPr marL="514350" indent="-514350">
              <a:spcAft>
                <a:spcPts val="900"/>
              </a:spcAft>
              <a:buSzPct val="100000"/>
              <a:buChar char="●"/>
            </a:pPr>
            <a:r>
              <a:rPr lang="en-US" sz="2000" dirty="0">
                <a:solidFill>
                  <a:srgbClr val="16302B"/>
                </a:solidFill>
                <a:latin typeface="Bahnschrift SemiBold" panose="02000000000000000000" pitchFamily="2" charset="0"/>
                <a:ea typeface="Bahnschrift SemiBold" panose="02000000000000000000" pitchFamily="2" charset="0"/>
                <a:cs typeface="Calibri" pitchFamily="34" charset="-120"/>
              </a:rPr>
              <a:t>Added/adjusted examples to match what I actually know and can explain.</a:t>
            </a:r>
            <a:endParaRPr lang="en-US" sz="2000" dirty="0">
              <a:latin typeface="Bahnschrift SemiBold" panose="02000000000000000000" pitchFamily="2" charset="0"/>
              <a:ea typeface="Bahnschrift SemiBold" panose="020000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315700" y="2194560"/>
            <a:ext cx="6172200" cy="7406640"/>
          </a:xfrm>
          <a:prstGeom prst="roundRect">
            <a:avLst>
              <a:gd name="adj" fmla="val 1778"/>
            </a:avLst>
          </a:prstGeom>
          <a:solidFill>
            <a:srgbClr val="2B8453"/>
          </a:solidFill>
          <a:ln/>
        </p:spPr>
      </p:sp>
      <p:sp>
        <p:nvSpPr>
          <p:cNvPr id="14" name="Text 12"/>
          <p:cNvSpPr/>
          <p:nvPr/>
        </p:nvSpPr>
        <p:spPr>
          <a:xfrm>
            <a:off x="1172718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kern="0" spc="225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727180" y="2948940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 Sri Lanka – Sub-Committee on Biotechnology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nsf.gov.lk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27180" y="3813048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Institute of Biotechnology (SLIBTEC)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slibtec.gov.lk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27180" y="4677156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Fundamental Studies – Microbial Biotechnology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nifs.ac.lk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27180" y="5541264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– Biotechnologies in agriculture &amp; aquaculture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fao.org/biotechnology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27180" y="6405372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in Sri Lanka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fao.org/srilanka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27180" y="7269480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Biotechnology Association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slbta.org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27180" y="8133588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Sirisena &amp; Dissanayake (2019). Genetics and genomic medicine in Sri Lanka. Mol Genet Genomic Med. (PMC6565544)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27180" y="8997696"/>
            <a:ext cx="541782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Genetics &amp; Genomics, University of Colombo</a:t>
            </a:r>
            <a:endParaRPr lang="en-US" sz="16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6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med.cmb.ac.lk/cgg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438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Sewwandi H.G.I. HS26510452</cp:lastModifiedBy>
  <cp:revision>5</cp:revision>
  <dcterms:created xsi:type="dcterms:W3CDTF">2006-08-16T00:00:00Z</dcterms:created>
  <dcterms:modified xsi:type="dcterms:W3CDTF">2026-08-22T18:15:30Z</dcterms:modified>
  <dc:identifier>DAHTABfG06c</dc:identifier>
</cp:coreProperties>
</file>